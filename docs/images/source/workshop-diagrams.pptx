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058400" cy="63093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923544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0">
                <a:solidFill>
                  <a:srgbClr val="0F2A4A"/>
                </a:solidFill>
                <a:latin typeface="Segoe UI Semibold"/>
              </a:rPr>
              <a:t>Workshop setup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94944"/>
            <a:ext cx="92354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F5E5C"/>
                </a:solidFill>
                <a:latin typeface="Segoe UI"/>
              </a:rPr>
              <a:t>One capacity, one workspace, one shared lakehouse. Everyone builds in their own folder.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88720"/>
            <a:ext cx="9235440" cy="393192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1325880"/>
            <a:ext cx="402336" cy="402336"/>
          </a:xfrm>
          <a:prstGeom prst="ellipse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84">
                <a:solidFill>
                  <a:srgbClr val="FFFFFF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52728"/>
            <a:ext cx="77724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242424"/>
                </a:solidFill>
                <a:latin typeface="Segoe UI Semibold"/>
              </a:rPr>
              <a:t>One Fabric capacity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27048"/>
            <a:ext cx="7772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5F5E5C"/>
                </a:solidFill>
                <a:latin typeface="Segoe UI"/>
              </a:rPr>
              <a:t>Paid F2 or larger in the EU · Copilot and data agents turned 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87782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7D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1" y="2084832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6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84">
                <a:solidFill>
                  <a:srgbClr val="2E7DD7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011680"/>
            <a:ext cx="8046719" cy="31089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242424"/>
                </a:solidFill>
                <a:latin typeface="Segoe UI Semibold"/>
              </a:rPr>
              <a:t>Workshop workspace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304288"/>
            <a:ext cx="8046719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5F5E5C"/>
                </a:solidFill>
                <a:latin typeface="Consolas"/>
              </a:rPr>
              <a:t>ContosoPharma_Workshop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98448" y="2633472"/>
            <a:ext cx="1998878" cy="292608"/>
          </a:xfrm>
          <a:prstGeom prst="roundRect">
            <a:avLst>
              <a:gd name="adj" fmla="val 50000"/>
            </a:avLst>
          </a:prstGeom>
          <a:solidFill>
            <a:srgbClr val="E6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2633472"/>
            <a:ext cx="1944014" cy="292608"/>
          </a:xfrm>
          <a:prstGeom prst="rect">
            <a:avLst/>
          </a:prstGeom>
          <a:noFill/>
        </p:spPr>
        <p:txBody>
          <a:bodyPr wrap="none" anchor="ctr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2E7DD7"/>
                </a:solidFill>
                <a:latin typeface="Segoe UI Semibold"/>
              </a:rPr>
              <a:t>Your role: Contributor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3017520"/>
            <a:ext cx="301752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3081528"/>
            <a:ext cx="292608" cy="292608"/>
          </a:xfrm>
          <a:prstGeom prst="ellipse">
            <a:avLst/>
          </a:prstGeom>
          <a:solidFill>
            <a:srgbClr val="E6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52">
                <a:solidFill>
                  <a:srgbClr val="2E7DD7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054096"/>
            <a:ext cx="2514600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42424"/>
                </a:solidFill>
                <a:latin typeface="Segoe UI Semibold"/>
              </a:rPr>
              <a:t>00_Shared</a:t>
            </a:r>
            <a:r>
              <a:rPr sz="1200" b="0">
                <a:solidFill>
                  <a:srgbClr val="242424"/>
                </a:solidFill>
                <a:latin typeface="Segoe UI"/>
              </a:rPr>
              <a:t> · look, don't change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474720"/>
            <a:ext cx="457200" cy="457200"/>
          </a:xfrm>
          <a:prstGeom prst="ellipse">
            <a:avLst/>
          </a:prstGeom>
          <a:solidFill>
            <a:srgbClr val="E6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>
                <a:solidFill>
                  <a:srgbClr val="2E7DD7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438144"/>
            <a:ext cx="22860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242424"/>
                </a:solidFill>
                <a:latin typeface="Consolas"/>
              </a:rPr>
              <a:t>LH_ContosoPharma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3703320"/>
            <a:ext cx="22860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F5E5C"/>
                </a:solidFill>
                <a:latin typeface="Segoe UI"/>
              </a:rPr>
              <a:t>Shared lakehouse · 6 tables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" y="4206240"/>
            <a:ext cx="3017520" cy="621792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426110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52">
                <a:solidFill>
                  <a:srgbClr val="5F5E5C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4224528"/>
            <a:ext cx="2514600" cy="2926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42424"/>
                </a:solidFill>
                <a:latin typeface="Segoe UI Semibold"/>
              </a:rPr>
              <a:t>REF</a:t>
            </a:r>
            <a:r>
              <a:rPr sz="1200" b="0">
                <a:solidFill>
                  <a:srgbClr val="242424"/>
                </a:solidFill>
                <a:latin typeface="Segoe UI"/>
              </a:rPr>
              <a:t> · instructor's 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4498848"/>
            <a:ext cx="2514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F5E5C"/>
                </a:solidFill>
                <a:latin typeface="Segoe UI"/>
              </a:rPr>
              <a:t>Finished model, report, agent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28032" y="3017520"/>
            <a:ext cx="3063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A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956048" y="3108960"/>
            <a:ext cx="365760" cy="365760"/>
          </a:xfrm>
          <a:prstGeom prst="ellipse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40">
                <a:solidFill>
                  <a:srgbClr val="FFFFFF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3248" y="3127248"/>
            <a:ext cx="2377440" cy="31089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242424"/>
                </a:solidFill>
                <a:latin typeface="Segoe UI Semibold"/>
              </a:rPr>
              <a:t>P07 · your folder</a:t>
            </a:r>
          </a:p>
        </p:txBody>
      </p:sp>
      <p:sp>
        <p:nvSpPr>
          <p:cNvPr id="27" name="Oval 26"/>
          <p:cNvSpPr/>
          <p:nvPr/>
        </p:nvSpPr>
        <p:spPr>
          <a:xfrm>
            <a:off x="4983480" y="3593592"/>
            <a:ext cx="310896" cy="310896"/>
          </a:xfrm>
          <a:prstGeom prst="ellipse">
            <a:avLst/>
          </a:prstGeom>
          <a:solidFill>
            <a:srgbClr val="E6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24">
                <a:solidFill>
                  <a:srgbClr val="2E7DD7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85816" y="3593592"/>
            <a:ext cx="1783080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42424"/>
                </a:solidFill>
                <a:latin typeface="Consolas"/>
              </a:rPr>
              <a:t>P07_Sales_Model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3611880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E6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51192" y="3611880"/>
            <a:ext cx="548640" cy="274320"/>
          </a:xfrm>
          <a:prstGeom prst="rect">
            <a:avLst/>
          </a:prstGeom>
          <a:noFill/>
        </p:spPr>
        <p:txBody>
          <a:bodyPr wrap="none" anchor="ctr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2E7DD7"/>
                </a:solidFill>
                <a:latin typeface="Segoe UI Semibold"/>
              </a:rPr>
              <a:t>Lab 1</a:t>
            </a:r>
          </a:p>
        </p:txBody>
      </p:sp>
      <p:sp>
        <p:nvSpPr>
          <p:cNvPr id="31" name="Oval 30"/>
          <p:cNvSpPr/>
          <p:nvPr/>
        </p:nvSpPr>
        <p:spPr>
          <a:xfrm>
            <a:off x="4983480" y="3959352"/>
            <a:ext cx="310896" cy="310896"/>
          </a:xfrm>
          <a:prstGeom prst="ellipse">
            <a:avLst/>
          </a:prstGeom>
          <a:solidFill>
            <a:srgbClr val="E6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24">
                <a:solidFill>
                  <a:srgbClr val="2E7DD7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85816" y="3959352"/>
            <a:ext cx="1783080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42424"/>
                </a:solidFill>
                <a:latin typeface="Consolas"/>
              </a:rPr>
              <a:t>P07_Sales_Report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3760" y="3977639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E6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51192" y="3977639"/>
            <a:ext cx="548640" cy="274320"/>
          </a:xfrm>
          <a:prstGeom prst="rect">
            <a:avLst/>
          </a:prstGeom>
          <a:noFill/>
        </p:spPr>
        <p:txBody>
          <a:bodyPr wrap="none" anchor="ctr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2E7DD7"/>
                </a:solidFill>
                <a:latin typeface="Segoe UI Semibold"/>
              </a:rPr>
              <a:t>Lab 1</a:t>
            </a:r>
          </a:p>
        </p:txBody>
      </p:sp>
      <p:sp>
        <p:nvSpPr>
          <p:cNvPr id="35" name="Oval 34"/>
          <p:cNvSpPr/>
          <p:nvPr/>
        </p:nvSpPr>
        <p:spPr>
          <a:xfrm>
            <a:off x="4983480" y="4325112"/>
            <a:ext cx="310896" cy="310896"/>
          </a:xfrm>
          <a:prstGeom prst="ellipse">
            <a:avLst/>
          </a:prstGeom>
          <a:solidFill>
            <a:srgbClr val="E6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24">
                <a:solidFill>
                  <a:srgbClr val="2E7DD7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85816" y="4325112"/>
            <a:ext cx="1783080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42424"/>
                </a:solidFill>
                <a:latin typeface="Consolas"/>
              </a:rPr>
              <a:t>P07_Sales_Agent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23760" y="4343400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51192" y="4343400"/>
            <a:ext cx="548640" cy="274320"/>
          </a:xfrm>
          <a:prstGeom prst="rect">
            <a:avLst/>
          </a:prstGeom>
          <a:noFill/>
        </p:spPr>
        <p:txBody>
          <a:bodyPr wrap="none" anchor="ctr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9A5B00"/>
                </a:solidFill>
                <a:latin typeface="Segoe UI Semibold"/>
              </a:rPr>
              <a:t>Lab 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65008" y="3017520"/>
            <a:ext cx="118872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138160" y="3063239"/>
            <a:ext cx="219456" cy="219456"/>
          </a:xfrm>
          <a:prstGeom prst="ellipse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64">
                <a:solidFill>
                  <a:srgbClr val="5F5E5C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3017520"/>
            <a:ext cx="822960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5F5E5C"/>
                </a:solidFill>
                <a:latin typeface="Segoe UI"/>
              </a:rPr>
              <a:t>P01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65008" y="3401568"/>
            <a:ext cx="118872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138160" y="3447287"/>
            <a:ext cx="219456" cy="219456"/>
          </a:xfrm>
          <a:prstGeom prst="ellipse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64">
                <a:solidFill>
                  <a:srgbClr val="5F5E5C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3401568"/>
            <a:ext cx="822960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5F5E5C"/>
                </a:solidFill>
                <a:latin typeface="Segoe UI"/>
              </a:rPr>
              <a:t>P02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65008" y="3785615"/>
            <a:ext cx="118872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138160" y="3831335"/>
            <a:ext cx="219456" cy="219456"/>
          </a:xfrm>
          <a:prstGeom prst="ellipse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64">
                <a:solidFill>
                  <a:srgbClr val="5F5E5C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785615"/>
            <a:ext cx="822960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5F5E5C"/>
                </a:solidFill>
                <a:latin typeface="Segoe UI"/>
              </a:rPr>
              <a:t>P03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65008" y="4169663"/>
            <a:ext cx="118872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138160" y="4215383"/>
            <a:ext cx="219456" cy="219456"/>
          </a:xfrm>
          <a:prstGeom prst="ellipse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864">
                <a:solidFill>
                  <a:srgbClr val="5F5E5C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4169663"/>
            <a:ext cx="822960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5F5E5C"/>
                </a:solidFill>
                <a:latin typeface="Segoe UI"/>
              </a:rPr>
              <a:t>… P25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65008" y="4553712"/>
            <a:ext cx="128016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8A8886"/>
                </a:solidFill>
                <a:latin typeface="Segoe UI"/>
              </a:rPr>
              <a:t>one folder per participant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822191" y="3611880"/>
            <a:ext cx="1005841" cy="137159"/>
          </a:xfrm>
          <a:prstGeom prst="line">
            <a:avLst/>
          </a:prstGeom>
          <a:ln w="25400">
            <a:solidFill>
              <a:srgbClr val="2E7DD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822191" y="3840480"/>
            <a:ext cx="1005841" cy="640080"/>
          </a:xfrm>
          <a:prstGeom prst="line">
            <a:avLst/>
          </a:prstGeom>
          <a:ln w="25400">
            <a:solidFill>
              <a:srgbClr val="E8A3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3840480" y="3035808"/>
            <a:ext cx="969264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1">
                <a:solidFill>
                  <a:srgbClr val="2E7DD7"/>
                </a:solidFill>
                <a:latin typeface="Segoe UI Semibold"/>
              </a:rPr>
              <a:t>Direct Lake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>
                <a:solidFill>
                  <a:srgbClr val="2E7DD7"/>
                </a:solidFill>
                <a:latin typeface="Segoe UI"/>
              </a:rPr>
              <a:t>Lab 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40480" y="4315968"/>
            <a:ext cx="969264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1">
                <a:solidFill>
                  <a:srgbClr val="9A5B00"/>
                </a:solidFill>
                <a:latin typeface="Segoe UI Semibold"/>
              </a:rPr>
              <a:t>SQL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>
                <a:solidFill>
                  <a:srgbClr val="9A5B00"/>
                </a:solidFill>
                <a:latin typeface="Segoe UI"/>
              </a:rPr>
              <a:t>Lab 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1480" y="5285232"/>
            <a:ext cx="923544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66928" y="5431536"/>
            <a:ext cx="384048" cy="384048"/>
          </a:xfrm>
          <a:prstGeom prst="ellipse">
            <a:avLst/>
          </a:prstGeom>
          <a:solidFill>
            <a:srgbClr val="E7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12">
                <a:solidFill>
                  <a:srgbClr val="107C10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271" y="5394960"/>
            <a:ext cx="128016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242424"/>
                </a:solidFill>
                <a:latin typeface="Segoe UI Semibold"/>
              </a:rPr>
              <a:t>Governance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377440" y="5477256"/>
            <a:ext cx="169529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404872" y="5477256"/>
            <a:ext cx="1640433" cy="292608"/>
          </a:xfrm>
          <a:prstGeom prst="rect">
            <a:avLst/>
          </a:prstGeom>
          <a:noFill/>
        </p:spPr>
        <p:txBody>
          <a:bodyPr wrap="none" anchor="ctr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42424"/>
                </a:solidFill>
                <a:latin typeface="Segoe UI Semibold"/>
              </a:rPr>
              <a:t>Row-level security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82465" y="5477256"/>
            <a:ext cx="169529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09897" y="5477256"/>
            <a:ext cx="1640433" cy="292608"/>
          </a:xfrm>
          <a:prstGeom prst="rect">
            <a:avLst/>
          </a:prstGeom>
          <a:noFill/>
        </p:spPr>
        <p:txBody>
          <a:bodyPr wrap="none" anchor="ctr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42424"/>
                </a:solidFill>
                <a:latin typeface="Segoe UI Semibold"/>
              </a:rPr>
              <a:t>Sensitivity labels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87491" y="5477256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14923" y="5477256"/>
            <a:ext cx="512064" cy="292608"/>
          </a:xfrm>
          <a:prstGeom prst="rect">
            <a:avLst/>
          </a:prstGeom>
          <a:noFill/>
        </p:spPr>
        <p:txBody>
          <a:bodyPr wrap="none" anchor="ctr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42424"/>
                </a:solidFill>
                <a:latin typeface="Segoe UI Semibold"/>
              </a:rPr>
              <a:t>DLP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664147" y="5477256"/>
            <a:ext cx="131582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91579" y="5477256"/>
            <a:ext cx="1260957" cy="292608"/>
          </a:xfrm>
          <a:prstGeom prst="rect">
            <a:avLst/>
          </a:prstGeom>
          <a:noFill/>
        </p:spPr>
        <p:txBody>
          <a:bodyPr wrap="none" anchor="ctr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42424"/>
                </a:solidFill>
                <a:latin typeface="Segoe UI Semibold"/>
              </a:rPr>
              <a:t>Purview Audit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089696" y="5477256"/>
            <a:ext cx="116403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17128" y="5477256"/>
            <a:ext cx="1109167" cy="292608"/>
          </a:xfrm>
          <a:prstGeom prst="rect">
            <a:avLst/>
          </a:prstGeom>
          <a:noFill/>
        </p:spPr>
        <p:txBody>
          <a:bodyPr wrap="none" anchor="ctr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42424"/>
                </a:solidFill>
                <a:latin typeface="Segoe UI Semibold"/>
              </a:rPr>
              <a:t>DSPM for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923544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0">
                <a:solidFill>
                  <a:srgbClr val="0F2A4A"/>
                </a:solidFill>
                <a:latin typeface="Segoe UI Semibold"/>
              </a:rPr>
              <a:t>Use case 1 · Semantic model and AI-powered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94944"/>
            <a:ext cx="92354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F5E5C"/>
                </a:solidFill>
                <a:latin typeface="Segoe UI"/>
              </a:rPr>
              <a:t>Browser only · Direct Lake on one shared lakehouse · Copilot helps along the 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34440"/>
            <a:ext cx="17830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380744"/>
            <a:ext cx="438912" cy="438912"/>
          </a:xfrm>
          <a:prstGeom prst="ellipse">
            <a:avLst/>
          </a:prstGeom>
          <a:solidFill>
            <a:srgbClr val="E6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28">
                <a:solidFill>
                  <a:srgbClr val="2E7DD7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435608"/>
            <a:ext cx="1106424" cy="365760"/>
          </a:xfrm>
          <a:prstGeom prst="rect">
            <a:avLst/>
          </a:prstGeom>
          <a:noFill/>
        </p:spPr>
        <p:txBody>
          <a:bodyPr wrap="non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242424"/>
                </a:solidFill>
                <a:latin typeface="Segoe UI Semibold"/>
              </a:rPr>
              <a:t>Lakehouse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9384"/>
            <a:ext cx="150876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F5E5C"/>
                </a:solidFill>
                <a:latin typeface="Segoe UI"/>
              </a:rPr>
              <a:t>LH_ContosoPharma · 4 sales 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234440"/>
            <a:ext cx="17830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697479" y="1380744"/>
            <a:ext cx="438912" cy="438912"/>
          </a:xfrm>
          <a:prstGeom prst="ellipse">
            <a:avLst/>
          </a:prstGeom>
          <a:solidFill>
            <a:srgbClr val="E6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28">
                <a:solidFill>
                  <a:srgbClr val="2E7DD7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435608"/>
            <a:ext cx="1106424" cy="365760"/>
          </a:xfrm>
          <a:prstGeom prst="rect">
            <a:avLst/>
          </a:prstGeom>
          <a:noFill/>
        </p:spPr>
        <p:txBody>
          <a:bodyPr wrap="non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242424"/>
                </a:solidFill>
                <a:latin typeface="Segoe UI Semibold"/>
              </a:rPr>
              <a:t>Direct Lake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1929384"/>
            <a:ext cx="150876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F5E5C"/>
                </a:solidFill>
                <a:latin typeface="Segoe UI"/>
              </a:rPr>
              <a:t>OneLake catalog, no data copy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234440"/>
            <a:ext cx="2331720" cy="1234440"/>
          </a:xfrm>
          <a:prstGeom prst="roundRect">
            <a:avLst>
              <a:gd name="adj" fmla="val 6000"/>
            </a:avLst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20" y="1380744"/>
            <a:ext cx="438912" cy="438912"/>
          </a:xfrm>
          <a:prstGeom prst="ellipse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28">
                <a:solidFill>
                  <a:srgbClr val="FFFFFF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435608"/>
            <a:ext cx="1655063" cy="365760"/>
          </a:xfrm>
          <a:prstGeom prst="rect">
            <a:avLst/>
          </a:prstGeom>
          <a:noFill/>
        </p:spPr>
        <p:txBody>
          <a:bodyPr wrap="non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242424"/>
                </a:solidFill>
                <a:latin typeface="Segoe UI Semibold"/>
              </a:rPr>
              <a:t>Semantic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929384"/>
            <a:ext cx="205740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F5E5C"/>
                </a:solidFill>
                <a:latin typeface="Segoe UI"/>
              </a:rPr>
              <a:t>P07_Sales_Model · star schema, measures, security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234440"/>
            <a:ext cx="2240280" cy="1234440"/>
          </a:xfrm>
          <a:prstGeom prst="roundRect">
            <a:avLst>
              <a:gd name="adj" fmla="val 6000"/>
            </a:avLst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43800" y="1380744"/>
            <a:ext cx="438912" cy="438912"/>
          </a:xfrm>
          <a:prstGeom prst="ellipse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28">
                <a:solidFill>
                  <a:srgbClr val="FFFFFF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1435608"/>
            <a:ext cx="1563624" cy="365760"/>
          </a:xfrm>
          <a:prstGeom prst="rect">
            <a:avLst/>
          </a:prstGeom>
          <a:noFill/>
        </p:spPr>
        <p:txBody>
          <a:bodyPr wrap="non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242424"/>
                </a:solidFill>
                <a:latin typeface="Segoe UI Semibold"/>
              </a:rP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1929384"/>
            <a:ext cx="196596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F5E5C"/>
                </a:solidFill>
                <a:latin typeface="Segoe UI"/>
              </a:rPr>
              <a:t>P07_Sales_Report · Copilot page, AI visuals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40279" y="1847088"/>
            <a:ext cx="274321" cy="0"/>
          </a:xfrm>
          <a:prstGeom prst="line">
            <a:avLst/>
          </a:prstGeom>
          <a:ln w="25400">
            <a:solidFill>
              <a:srgbClr val="5F5E5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389120" y="1847088"/>
            <a:ext cx="274320" cy="0"/>
          </a:xfrm>
          <a:prstGeom prst="line">
            <a:avLst/>
          </a:prstGeom>
          <a:ln w="25400">
            <a:solidFill>
              <a:srgbClr val="5F5E5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86600" y="1847088"/>
            <a:ext cx="274319" cy="0"/>
          </a:xfrm>
          <a:prstGeom prst="line">
            <a:avLst/>
          </a:prstGeom>
          <a:ln w="25400">
            <a:solidFill>
              <a:srgbClr val="5F5E5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1480" y="2651760"/>
            <a:ext cx="3657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E8A317"/>
                </a:solidFill>
                <a:latin typeface="Segoe UI Semibold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411480" y="2944368"/>
            <a:ext cx="274320" cy="274320"/>
          </a:xfrm>
          <a:prstGeom prst="ellipse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944368"/>
            <a:ext cx="27432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2926080"/>
            <a:ext cx="1417319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Explore the tables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310128"/>
            <a:ext cx="141732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F5E5C"/>
                </a:solidFill>
                <a:latin typeface="Consolas"/>
              </a:rPr>
              <a:t>fact_sales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F5E5C"/>
                </a:solidFill>
                <a:latin typeface="Consolas"/>
              </a:rPr>
              <a:t>dim_customer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F5E5C"/>
                </a:solidFill>
                <a:latin typeface="Consolas"/>
              </a:rPr>
              <a:t>dim_product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F5E5C"/>
                </a:solidFill>
                <a:latin typeface="Consolas"/>
              </a:rPr>
              <a:t>dim_date</a:t>
            </a:r>
          </a:p>
        </p:txBody>
      </p:sp>
      <p:sp>
        <p:nvSpPr>
          <p:cNvPr id="28" name="Oval 27"/>
          <p:cNvSpPr/>
          <p:nvPr/>
        </p:nvSpPr>
        <p:spPr>
          <a:xfrm>
            <a:off x="2560320" y="2944368"/>
            <a:ext cx="274320" cy="274320"/>
          </a:xfrm>
          <a:prstGeom prst="ellipse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0" y="2944368"/>
            <a:ext cx="27432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79" y="2926080"/>
            <a:ext cx="1417319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Create the model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3346704"/>
            <a:ext cx="1783080" cy="841248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1760" y="3383280"/>
            <a:ext cx="1618488" cy="777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E7DD7"/>
                </a:solidFill>
                <a:latin typeface="Segoe UI Semibold"/>
              </a:rPr>
              <a:t>No copy, no refresh schedule.</a:t>
            </a:r>
            <a:r>
              <a:rPr sz="1050" b="0">
                <a:solidFill>
                  <a:srgbClr val="2E7DD7"/>
                </a:solidFill>
                <a:latin typeface="Segoe UI"/>
              </a:rPr>
              <a:t> Same in-memory engine as Import</a:t>
            </a:r>
          </a:p>
        </p:txBody>
      </p:sp>
      <p:sp>
        <p:nvSpPr>
          <p:cNvPr id="33" name="Oval 32"/>
          <p:cNvSpPr/>
          <p:nvPr/>
        </p:nvSpPr>
        <p:spPr>
          <a:xfrm>
            <a:off x="4709160" y="2944368"/>
            <a:ext cx="274320" cy="274320"/>
          </a:xfrm>
          <a:prstGeom prst="ellipse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60" y="2944368"/>
            <a:ext cx="27432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2926080"/>
            <a:ext cx="1965960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Relationships, date table</a:t>
            </a:r>
          </a:p>
        </p:txBody>
      </p:sp>
      <p:sp>
        <p:nvSpPr>
          <p:cNvPr id="36" name="Oval 35"/>
          <p:cNvSpPr/>
          <p:nvPr/>
        </p:nvSpPr>
        <p:spPr>
          <a:xfrm>
            <a:off x="4709160" y="3291840"/>
            <a:ext cx="274320" cy="274320"/>
          </a:xfrm>
          <a:prstGeom prst="ellipse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3291840"/>
            <a:ext cx="27432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3273552"/>
            <a:ext cx="1965960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Measures in DAX</a:t>
            </a:r>
          </a:p>
        </p:txBody>
      </p:sp>
      <p:sp>
        <p:nvSpPr>
          <p:cNvPr id="39" name="Oval 38"/>
          <p:cNvSpPr/>
          <p:nvPr/>
        </p:nvSpPr>
        <p:spPr>
          <a:xfrm>
            <a:off x="4709160" y="3639312"/>
            <a:ext cx="274320" cy="274320"/>
          </a:xfrm>
          <a:prstGeom prst="ellipse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9160" y="3639312"/>
            <a:ext cx="27432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4920" y="3621024"/>
            <a:ext cx="1965960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Names, formats, folders</a:t>
            </a:r>
          </a:p>
        </p:txBody>
      </p:sp>
      <p:sp>
        <p:nvSpPr>
          <p:cNvPr id="42" name="Oval 41"/>
          <p:cNvSpPr/>
          <p:nvPr/>
        </p:nvSpPr>
        <p:spPr>
          <a:xfrm>
            <a:off x="4709160" y="3986784"/>
            <a:ext cx="274320" cy="274320"/>
          </a:xfrm>
          <a:prstGeom prst="ellipse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09160" y="3986784"/>
            <a:ext cx="27432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74920" y="3968496"/>
            <a:ext cx="1965960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Prep data for AI</a:t>
            </a:r>
          </a:p>
        </p:txBody>
      </p:sp>
      <p:sp>
        <p:nvSpPr>
          <p:cNvPr id="45" name="Oval 44"/>
          <p:cNvSpPr/>
          <p:nvPr/>
        </p:nvSpPr>
        <p:spPr>
          <a:xfrm>
            <a:off x="4709160" y="4334256"/>
            <a:ext cx="274320" cy="274320"/>
          </a:xfrm>
          <a:prstGeom prst="ellipse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09160" y="4334256"/>
            <a:ext cx="27432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74920" y="4315968"/>
            <a:ext cx="1965960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RLS, label, endorsement</a:t>
            </a:r>
          </a:p>
        </p:txBody>
      </p:sp>
      <p:sp>
        <p:nvSpPr>
          <p:cNvPr id="48" name="Oval 47"/>
          <p:cNvSpPr/>
          <p:nvPr/>
        </p:nvSpPr>
        <p:spPr>
          <a:xfrm>
            <a:off x="7406640" y="2944368"/>
            <a:ext cx="274320" cy="274320"/>
          </a:xfrm>
          <a:prstGeom prst="ellipse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06640" y="2944368"/>
            <a:ext cx="27432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2926080"/>
            <a:ext cx="1874520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Report page with Copilot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3200400"/>
            <a:ext cx="18288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F5E5C"/>
                </a:solidFill>
                <a:latin typeface="Segoe UI"/>
              </a:rPr>
              <a:t>+ verified answer</a:t>
            </a:r>
          </a:p>
        </p:txBody>
      </p:sp>
      <p:sp>
        <p:nvSpPr>
          <p:cNvPr id="52" name="Oval 51"/>
          <p:cNvSpPr/>
          <p:nvPr/>
        </p:nvSpPr>
        <p:spPr>
          <a:xfrm>
            <a:off x="7406640" y="3584448"/>
            <a:ext cx="274320" cy="274320"/>
          </a:xfrm>
          <a:prstGeom prst="ellipse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06640" y="3584448"/>
            <a:ext cx="27432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3566160"/>
            <a:ext cx="1874520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AI visuals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3877056"/>
            <a:ext cx="1828800" cy="9144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F5E5C"/>
                </a:solidFill>
                <a:latin typeface="Segoe UI"/>
              </a:rPr>
              <a:t>Anomaly detection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F5E5C"/>
                </a:solidFill>
                <a:latin typeface="Segoe UI"/>
              </a:rPr>
              <a:t>Forecast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F5E5C"/>
                </a:solidFill>
                <a:latin typeface="Segoe UI"/>
              </a:rPr>
              <a:t>Key influencers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F5E5C"/>
                </a:solidFill>
                <a:latin typeface="Segoe UI"/>
              </a:rPr>
              <a:t>Decomposition tree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11480" y="4846320"/>
            <a:ext cx="9235440" cy="0"/>
          </a:xfrm>
          <a:prstGeom prst="line">
            <a:avLst/>
          </a:prstGeom>
          <a:ln w="12700">
            <a:solidFill>
              <a:srgbClr val="D6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411480" y="5074920"/>
            <a:ext cx="402336" cy="402336"/>
          </a:xfrm>
          <a:prstGeom prst="ellipse">
            <a:avLst/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84">
                <a:solidFill>
                  <a:srgbClr val="6B45B5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" y="5001768"/>
            <a:ext cx="356616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45B5"/>
                </a:solidFill>
                <a:latin typeface="Segoe UI Semibold"/>
              </a:rPr>
              <a:t>Copilot helps at steps 4, 5, 7 and 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B45B5"/>
                </a:solidFill>
                <a:latin typeface="Segoe UI"/>
              </a:rPr>
              <a:t>* preview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709160" y="5029200"/>
            <a:ext cx="2349093" cy="292608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00600" y="5029200"/>
            <a:ext cx="274320" cy="292608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r>
              <a:rPr sz="1200">
                <a:solidFill>
                  <a:srgbClr val="6B45B5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74920" y="5029200"/>
            <a:ext cx="1937613" cy="292608"/>
          </a:xfrm>
          <a:prstGeom prst="rect">
            <a:avLst/>
          </a:prstGeom>
          <a:noFill/>
        </p:spPr>
        <p:txBody>
          <a:bodyPr wrap="non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6B45B5"/>
                </a:solidFill>
                <a:latin typeface="Segoe UI Semibold"/>
              </a:rPr>
              <a:t>Step 4 · DAX query view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09160" y="5413248"/>
            <a:ext cx="2349093" cy="292608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00600" y="5413248"/>
            <a:ext cx="274320" cy="292608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r>
              <a:rPr sz="1200">
                <a:solidFill>
                  <a:srgbClr val="6B45B5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74920" y="5413248"/>
            <a:ext cx="1937613" cy="292608"/>
          </a:xfrm>
          <a:prstGeom prst="rect">
            <a:avLst/>
          </a:prstGeom>
          <a:noFill/>
        </p:spPr>
        <p:txBody>
          <a:bodyPr wrap="non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6B45B5"/>
                </a:solidFill>
                <a:latin typeface="Segoe UI Semibold"/>
              </a:rPr>
              <a:t>Step 5 · Web modeling *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406640" y="5029200"/>
            <a:ext cx="2197303" cy="292608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98079" y="5029200"/>
            <a:ext cx="274320" cy="292608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r>
              <a:rPr sz="1200">
                <a:solidFill>
                  <a:srgbClr val="6B45B5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72400" y="5029200"/>
            <a:ext cx="1785823" cy="292608"/>
          </a:xfrm>
          <a:prstGeom prst="rect">
            <a:avLst/>
          </a:prstGeom>
          <a:noFill/>
        </p:spPr>
        <p:txBody>
          <a:bodyPr wrap="non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6B45B5"/>
                </a:solidFill>
                <a:latin typeface="Segoe UI Semibold"/>
              </a:rPr>
              <a:t>Step 7 · Report pages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406640" y="5413248"/>
            <a:ext cx="1969617" cy="292608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98079" y="5413248"/>
            <a:ext cx="274320" cy="292608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r>
              <a:rPr sz="1200">
                <a:solidFill>
                  <a:srgbClr val="6B45B5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72400" y="5413248"/>
            <a:ext cx="1558137" cy="292608"/>
          </a:xfrm>
          <a:prstGeom prst="rect">
            <a:avLst/>
          </a:prstGeom>
          <a:noFill/>
        </p:spPr>
        <p:txBody>
          <a:bodyPr wrap="non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6B45B5"/>
                </a:solidFill>
                <a:latin typeface="Segoe UI Semibold"/>
              </a:rPr>
              <a:t>Step 8 · Narrative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923544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0">
                <a:solidFill>
                  <a:srgbClr val="0F2A4A"/>
                </a:solidFill>
                <a:latin typeface="Segoe UI Semibold"/>
              </a:rPr>
              <a:t>Use case 2 · Fabric data agent for two personas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94944"/>
            <a:ext cx="92354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F5E5C"/>
                </a:solidFill>
                <a:latin typeface="Segoe UI"/>
              </a:rPr>
              <a:t>One agent, two sources. It runs as the signed-in user, so permissions and RLS always apply.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34440"/>
            <a:ext cx="25146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57784" y="1380744"/>
            <a:ext cx="457200" cy="457200"/>
          </a:xfrm>
          <a:prstGeom prst="ellipse">
            <a:avLst/>
          </a:prstGeom>
          <a:solidFill>
            <a:srgbClr val="E6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>
                <a:solidFill>
                  <a:srgbClr val="2E7DD7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" y="1344168"/>
            <a:ext cx="1737360" cy="31089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242424"/>
                </a:solidFill>
                <a:latin typeface="Segoe UI Semibold"/>
              </a:rPr>
              <a:t>Developer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" y="1618488"/>
            <a:ext cx="17373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E8A317"/>
                </a:solidFill>
                <a:latin typeface="Segoe UI Semibold"/>
              </a:rPr>
              <a:t>Part A · 55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84248"/>
            <a:ext cx="2240280" cy="1097279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Create and configure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Build agent with AI (preview)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Test with run steps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Publish · MCP · evaluate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401568"/>
            <a:ext cx="25146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7784" y="3547872"/>
            <a:ext cx="457200" cy="457200"/>
          </a:xfrm>
          <a:prstGeom prst="ellipse">
            <a:avLst/>
          </a:prstGeom>
          <a:solidFill>
            <a:srgbClr val="E6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>
                <a:solidFill>
                  <a:srgbClr val="2E7DD7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3511296"/>
            <a:ext cx="1737360" cy="31089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242424"/>
                </a:solidFill>
                <a:latin typeface="Segoe UI Semibold"/>
              </a:rPr>
              <a:t>Business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3785616"/>
            <a:ext cx="17373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E8A317"/>
                </a:solidFill>
                <a:latin typeface="Segoe UI Semibold"/>
              </a:rPr>
              <a:t>Part B ·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51376"/>
            <a:ext cx="2240280" cy="1097279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Ask in plain language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Get answers as charts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Run the test sheet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242424"/>
                </a:solidFill>
                <a:latin typeface="Segoe UI"/>
              </a:rPr>
              <a:t>•  Send feedback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914400" y="3127248"/>
            <a:ext cx="0" cy="256032"/>
          </a:xfrm>
          <a:prstGeom prst="line">
            <a:avLst/>
          </a:prstGeom>
          <a:ln w="25400">
            <a:solidFill>
              <a:srgbClr val="9A5B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24128" y="3108960"/>
            <a:ext cx="1737360" cy="2926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9A5B00"/>
                </a:solidFill>
                <a:latin typeface="Segoe UI Semibold"/>
              </a:rPr>
              <a:t>feedback loop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965960"/>
            <a:ext cx="2743200" cy="2651760"/>
          </a:xfrm>
          <a:prstGeom prst="roundRect">
            <a:avLst>
              <a:gd name="adj" fmla="val 6000"/>
            </a:avLst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6280" y="2121408"/>
            <a:ext cx="548640" cy="548640"/>
          </a:xfrm>
          <a:prstGeom prst="ellipse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160">
                <a:solidFill>
                  <a:srgbClr val="FFFFFF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743200"/>
            <a:ext cx="2560320" cy="3474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242424"/>
                </a:solidFill>
                <a:latin typeface="Segoe UI Semibold"/>
              </a:rPr>
              <a:t>Data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072384"/>
            <a:ext cx="25603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5F5E5C"/>
                </a:solidFill>
                <a:latin typeface="Consolas"/>
              </a:rPr>
              <a:t>P07_Sales_Agent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4760" y="345643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22192" y="3456432"/>
            <a:ext cx="722376" cy="292608"/>
          </a:xfrm>
          <a:prstGeom prst="rect">
            <a:avLst/>
          </a:prstGeom>
          <a:noFill/>
        </p:spPr>
        <p:txBody>
          <a:bodyPr wrap="none" anchor="ctr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242424"/>
                </a:solidFill>
                <a:latin typeface="Segoe UI Semibold"/>
              </a:rPr>
              <a:t>Draft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99432" y="3593592"/>
            <a:ext cx="384048" cy="0"/>
          </a:xfrm>
          <a:prstGeom prst="line">
            <a:avLst/>
          </a:prstGeom>
          <a:ln w="19050">
            <a:solidFill>
              <a:srgbClr val="5F5E5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029200" y="34564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A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56632" y="3456432"/>
            <a:ext cx="950976" cy="292608"/>
          </a:xfrm>
          <a:prstGeom prst="rect">
            <a:avLst/>
          </a:prstGeom>
          <a:noFill/>
        </p:spPr>
        <p:txBody>
          <a:bodyPr wrap="none" anchor="ctr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9A5B00"/>
                </a:solidFill>
                <a:latin typeface="Segoe UI Semibold"/>
              </a:rPr>
              <a:t>Published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858768"/>
            <a:ext cx="2468880" cy="7315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F5E5C"/>
                </a:solidFill>
                <a:latin typeface="Segoe UI"/>
              </a:rPr>
              <a:t>Picks the source, writes SQL or DAX, answers with text, tables or charts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71800" y="2194560"/>
            <a:ext cx="429768" cy="411480"/>
          </a:xfrm>
          <a:prstGeom prst="line">
            <a:avLst/>
          </a:prstGeom>
          <a:ln w="25400">
            <a:solidFill>
              <a:srgbClr val="2E7DD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94560" y="1755648"/>
            <a:ext cx="118872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95000"/>
              </a:lnSpc>
              <a:spcAft>
                <a:spcPts val="400"/>
              </a:spcAft>
            </a:pPr>
            <a:r>
              <a:rPr sz="1050" b="1">
                <a:solidFill>
                  <a:srgbClr val="2E7DD7"/>
                </a:solidFill>
                <a:latin typeface="Segoe UI Semibold"/>
              </a:rPr>
              <a:t>configure, publish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2971800" y="3977639"/>
            <a:ext cx="429768" cy="365761"/>
          </a:xfrm>
          <a:prstGeom prst="line">
            <a:avLst/>
          </a:prstGeom>
          <a:ln w="25400">
            <a:solidFill>
              <a:srgbClr val="2E7DD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999232" y="4370832"/>
            <a:ext cx="54864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E7DD7"/>
                </a:solidFill>
                <a:latin typeface="Segoe UI Semibold"/>
              </a:rPr>
              <a:t>ask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1234440"/>
            <a:ext cx="30175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775704" y="1380744"/>
            <a:ext cx="457200" cy="457200"/>
          </a:xfrm>
          <a:prstGeom prst="ellipse">
            <a:avLst/>
          </a:prstGeom>
          <a:solidFill>
            <a:srgbClr val="E6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>
                <a:solidFill>
                  <a:srgbClr val="2E7DD7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24344" y="1325880"/>
            <a:ext cx="2240279" cy="31089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242424"/>
                </a:solidFill>
                <a:latin typeface="Segoe UI Semibold"/>
              </a:rPr>
              <a:t>Semantic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24344" y="1618488"/>
            <a:ext cx="2240279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F5E5C"/>
                </a:solidFill>
                <a:latin typeface="Consolas"/>
              </a:rPr>
              <a:t>P07_Sales_Model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130552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2E7DD7"/>
                </a:solidFill>
                <a:latin typeface="Segoe UI Semibold"/>
              </a:rPr>
              <a:t>Queried with DAX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404872"/>
            <a:ext cx="2743200" cy="685799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F5E5C"/>
                </a:solidFill>
                <a:latin typeface="Segoe UI"/>
              </a:rPr>
              <a:t>Tuned with Prep for AI: AI data schema, AI instructions, verified answers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29400" y="3291840"/>
            <a:ext cx="30175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775704" y="3438144"/>
            <a:ext cx="457200" cy="457200"/>
          </a:xfrm>
          <a:prstGeom prst="ellipse">
            <a:avLst/>
          </a:prstGeom>
          <a:solidFill>
            <a:srgbClr val="E6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>
                <a:solidFill>
                  <a:srgbClr val="2E7DD7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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24344" y="3383280"/>
            <a:ext cx="2240279" cy="31089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242424"/>
                </a:solidFill>
                <a:latin typeface="Segoe UI Semibold"/>
              </a:rPr>
              <a:t>Lakehouse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24344" y="3675888"/>
            <a:ext cx="2240279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F5E5C"/>
                </a:solidFill>
                <a:latin typeface="Consolas"/>
              </a:rPr>
              <a:t>inventory_weekly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F5E5C"/>
                </a:solidFill>
                <a:latin typeface="Consolas"/>
              </a:rPr>
              <a:t>quality_complaints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4187952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2E7DD7"/>
                </a:solidFill>
                <a:latin typeface="Segoe UI Semibold"/>
              </a:rPr>
              <a:t>Queried with SQL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4462272"/>
            <a:ext cx="2743200" cy="685799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F5E5C"/>
                </a:solidFill>
                <a:latin typeface="Segoe UI"/>
              </a:rPr>
              <a:t>Tuned in the agent: description, instructions, example queries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6217920" y="2194560"/>
            <a:ext cx="365760" cy="594360"/>
          </a:xfrm>
          <a:prstGeom prst="line">
            <a:avLst/>
          </a:prstGeom>
          <a:ln w="25400">
            <a:solidFill>
              <a:srgbClr val="2E7DD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217920" y="3794760"/>
            <a:ext cx="365760" cy="411480"/>
          </a:xfrm>
          <a:prstGeom prst="line">
            <a:avLst/>
          </a:prstGeom>
          <a:ln w="25400">
            <a:solidFill>
              <a:srgbClr val="2E7DD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11480" y="5486400"/>
            <a:ext cx="923544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48640" y="5596128"/>
            <a:ext cx="384048" cy="384048"/>
          </a:xfrm>
          <a:prstGeom prst="ellipse">
            <a:avLst/>
          </a:prstGeom>
          <a:solidFill>
            <a:srgbClr val="E6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12">
                <a:solidFill>
                  <a:srgbClr val="2E7DD7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" y="5486400"/>
            <a:ext cx="1783080" cy="60350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242424"/>
                </a:solidFill>
                <a:latin typeface="Segoe UI Semibold"/>
              </a:rPr>
              <a:t>Where people use it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97480" y="5641848"/>
            <a:ext cx="784555" cy="292608"/>
          </a:xfrm>
          <a:prstGeom prst="roundRect">
            <a:avLst>
              <a:gd name="adj" fmla="val 50000"/>
            </a:avLst>
          </a:prstGeom>
          <a:solidFill>
            <a:srgbClr val="E7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24912" y="5641848"/>
            <a:ext cx="729691" cy="292608"/>
          </a:xfrm>
          <a:prstGeom prst="rect">
            <a:avLst/>
          </a:prstGeom>
          <a:noFill/>
        </p:spPr>
        <p:txBody>
          <a:bodyPr wrap="none" anchor="ctr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07C10"/>
                </a:solidFill>
                <a:latin typeface="Segoe UI Semibold"/>
              </a:rPr>
              <a:t>Fabric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591763" y="5641848"/>
            <a:ext cx="2757830" cy="292608"/>
          </a:xfrm>
          <a:prstGeom prst="roundRect">
            <a:avLst>
              <a:gd name="adj" fmla="val 50000"/>
            </a:avLst>
          </a:prstGeom>
          <a:solidFill>
            <a:srgbClr val="FFF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19195" y="5641848"/>
            <a:ext cx="2702966" cy="292608"/>
          </a:xfrm>
          <a:prstGeom prst="rect">
            <a:avLst/>
          </a:prstGeom>
          <a:noFill/>
        </p:spPr>
        <p:txBody>
          <a:bodyPr wrap="none" anchor="ctr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9A5B00"/>
                </a:solidFill>
                <a:latin typeface="Segoe UI Semibold"/>
              </a:rPr>
              <a:t>M365 Copilot and Teams (preview)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59321" y="5641848"/>
            <a:ext cx="1391716" cy="292608"/>
          </a:xfrm>
          <a:prstGeom prst="roundRect">
            <a:avLst>
              <a:gd name="adj" fmla="val 50000"/>
            </a:avLst>
          </a:prstGeom>
          <a:solidFill>
            <a:srgbClr val="E7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86753" y="5641848"/>
            <a:ext cx="1336852" cy="292608"/>
          </a:xfrm>
          <a:prstGeom prst="rect">
            <a:avLst/>
          </a:prstGeom>
          <a:noFill/>
        </p:spPr>
        <p:txBody>
          <a:bodyPr wrap="none" anchor="ctr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07C10"/>
                </a:solidFill>
                <a:latin typeface="Segoe UI Semibold"/>
              </a:rPr>
              <a:t>Copilot Studio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60766" y="5641848"/>
            <a:ext cx="1315821" cy="292608"/>
          </a:xfrm>
          <a:prstGeom prst="roundRect">
            <a:avLst>
              <a:gd name="adj" fmla="val 50000"/>
            </a:avLst>
          </a:prstGeom>
          <a:solidFill>
            <a:srgbClr val="E7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88198" y="5641848"/>
            <a:ext cx="1260957" cy="292608"/>
          </a:xfrm>
          <a:prstGeom prst="rect">
            <a:avLst/>
          </a:prstGeom>
          <a:noFill/>
        </p:spPr>
        <p:txBody>
          <a:bodyPr wrap="none" anchor="ctr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07C10"/>
                </a:solidFill>
                <a:latin typeface="Segoe UI Semibold"/>
              </a:rPr>
              <a:t>VS Code (MCP)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923544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0">
                <a:solidFill>
                  <a:srgbClr val="0F2A4A"/>
                </a:solidFill>
                <a:latin typeface="Segoe UI Semibold"/>
              </a:rPr>
              <a:t>The data and the storyline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94944"/>
            <a:ext cx="92354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F5E5C"/>
                </a:solidFill>
                <a:latin typeface="Segoe UI"/>
              </a:rPr>
              <a:t>Synthetic Contoso Pharma data, January 2024 to September 2026. Lab 1 finds the drop, Lab 2 explains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15568"/>
            <a:ext cx="45720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E8A317"/>
                </a:solidFill>
                <a:latin typeface="Segoe UI Semibold"/>
              </a:rPr>
              <a:t>LAB 1 · SEMANTIC MODEL TABLES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1783080"/>
            <a:ext cx="1440180" cy="758952"/>
          </a:xfrm>
          <a:prstGeom prst="line">
            <a:avLst/>
          </a:prstGeom>
          <a:ln w="19050">
            <a:solidFill>
              <a:srgbClr val="5F5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2537460" y="1783080"/>
            <a:ext cx="1394460" cy="758952"/>
          </a:xfrm>
          <a:prstGeom prst="line">
            <a:avLst/>
          </a:prstGeom>
          <a:ln w="19050">
            <a:solidFill>
              <a:srgbClr val="5F5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537460" y="2542032"/>
            <a:ext cx="0" cy="786384"/>
          </a:xfrm>
          <a:prstGeom prst="line">
            <a:avLst/>
          </a:prstGeom>
          <a:ln w="19050">
            <a:solidFill>
              <a:srgbClr val="5F5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1480" y="1481328"/>
            <a:ext cx="137160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36192"/>
            <a:ext cx="13716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42424"/>
                </a:solidFill>
                <a:latin typeface="Segoe UI Semibold"/>
              </a:rPr>
              <a:t>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10512"/>
            <a:ext cx="1371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5F5E5C"/>
                </a:solidFill>
                <a:latin typeface="Segoe UI"/>
              </a:rPr>
              <a:t>103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481328"/>
            <a:ext cx="137160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536192"/>
            <a:ext cx="13716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42424"/>
                </a:solidFill>
                <a:latin typeface="Segoe UI Semibold"/>
              </a:rPr>
              <a:t>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810512"/>
            <a:ext cx="1371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5F5E5C"/>
                </a:solidFill>
                <a:latin typeface="Segoe UI"/>
              </a:rPr>
              <a:t>12 products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83080" y="2212848"/>
            <a:ext cx="1508760" cy="658368"/>
          </a:xfrm>
          <a:prstGeom prst="roundRect">
            <a:avLst>
              <a:gd name="adj" fmla="val 6000"/>
            </a:avLst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2267712"/>
            <a:ext cx="150876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42424"/>
                </a:solidFill>
                <a:latin typeface="Segoe UI Semibold"/>
              </a:rPr>
              <a:t>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542032"/>
            <a:ext cx="15087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5F5E5C"/>
                </a:solidFill>
                <a:latin typeface="Segoe UI"/>
              </a:rPr>
              <a:t>48,883 order lines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3026664"/>
            <a:ext cx="141732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3081528"/>
            <a:ext cx="141732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42424"/>
                </a:solidFill>
                <a:latin typeface="Segoe UI Semibold"/>
              </a:rPr>
              <a:t>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355848"/>
            <a:ext cx="14173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5F5E5C"/>
                </a:solidFill>
                <a:latin typeface="Segoe UI"/>
              </a:rPr>
              <a:t>2024 –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1115568"/>
            <a:ext cx="45720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E8A317"/>
                </a:solidFill>
                <a:latin typeface="Segoe UI Semibold"/>
              </a:rPr>
              <a:t>LAB 2 · EXTRA LAKEHOUSE TABLES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80" y="1481328"/>
            <a:ext cx="21488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49240" y="1618488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E6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12">
                <a:solidFill>
                  <a:srgbClr val="2E7DD7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9008" y="1627632"/>
            <a:ext cx="1545336" cy="3291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42424"/>
                </a:solidFill>
                <a:latin typeface="Consolas"/>
              </a:rPr>
              <a:t>inventory_weekly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103120"/>
            <a:ext cx="192024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F5E5C"/>
                </a:solidFill>
                <a:latin typeface="Segoe UI"/>
              </a:rPr>
              <a:t>Weekly stock per country and product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2596896"/>
            <a:ext cx="1920240" cy="10058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8A8886"/>
                </a:solidFill>
                <a:latin typeface="Consolas"/>
              </a:rPr>
              <a:t>stock_status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8A8886"/>
                </a:solidFill>
                <a:latin typeface="Consolas"/>
              </a:rPr>
              <a:t>days_of_supply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8A8886"/>
                </a:solidFill>
                <a:latin typeface="Consolas"/>
              </a:rPr>
              <a:t>backorder_units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1481328"/>
            <a:ext cx="21488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35240" y="1618488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E6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12">
                <a:solidFill>
                  <a:srgbClr val="2E7DD7"/>
                </a:solidFill>
                <a:latin typeface="Segoe Fluent Icons"/>
                <a:ea typeface="Segoe Fluent Icons"/>
                <a:cs typeface="Segoe Fluent Icons"/>
                <a:sym typeface="Segoe Fluent Icons"/>
              </a:rPr>
              <a:t>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7" y="1627632"/>
            <a:ext cx="1545336" cy="3291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42424"/>
                </a:solidFill>
                <a:latin typeface="Consolas"/>
              </a:rPr>
              <a:t>quality_complaints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103120"/>
            <a:ext cx="192024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F5E5C"/>
                </a:solidFill>
                <a:latin typeface="Segoe UI"/>
              </a:rPr>
              <a:t>One row per product complaint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2596896"/>
            <a:ext cx="1920240" cy="10058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8A8886"/>
                </a:solidFill>
                <a:latin typeface="Consolas"/>
              </a:rPr>
              <a:t>batch_number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8A8886"/>
                </a:solidFill>
                <a:latin typeface="Consolas"/>
              </a:rPr>
              <a:t>complaint_category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8A8886"/>
                </a:solidFill>
                <a:latin typeface="Consolas"/>
              </a:rPr>
              <a:t>severity, 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3749039"/>
            <a:ext cx="64008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E8A317"/>
                </a:solidFill>
                <a:latin typeface="Segoe UI Semibold"/>
              </a:rPr>
              <a:t>THE STORY · ZENTORA 100 MG TABLETS, GERMANY · NET SALES 2026, THOUSAND EUR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8680" y="4251960"/>
            <a:ext cx="5852160" cy="0"/>
          </a:xfrm>
          <a:prstGeom prst="line">
            <a:avLst/>
          </a:prstGeom>
          <a:ln w="9525">
            <a:solidFill>
              <a:srgbClr val="D6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74320" y="4133088"/>
            <a:ext cx="548640" cy="237744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8A8886"/>
                </a:solidFill>
                <a:latin typeface="Segoe UI"/>
              </a:rPr>
              <a:t>1,200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68680" y="4983480"/>
            <a:ext cx="5852160" cy="0"/>
          </a:xfrm>
          <a:prstGeom prst="line">
            <a:avLst/>
          </a:prstGeom>
          <a:ln w="9525">
            <a:solidFill>
              <a:srgbClr val="D6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74320" y="4864608"/>
            <a:ext cx="548640" cy="237744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8A8886"/>
                </a:solidFill>
                <a:latin typeface="Segoe UI"/>
              </a:rPr>
              <a:t>600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68680" y="5715000"/>
            <a:ext cx="5852160" cy="0"/>
          </a:xfrm>
          <a:prstGeom prst="line">
            <a:avLst/>
          </a:prstGeom>
          <a:ln w="9525">
            <a:solidFill>
              <a:srgbClr val="D6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74320" y="5596128"/>
            <a:ext cx="548640" cy="237744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8A8886"/>
                </a:solidFill>
                <a:latin typeface="Segoe UI"/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19856" y="4160520"/>
            <a:ext cx="1014984" cy="1554480"/>
          </a:xfrm>
          <a:prstGeom prst="rect">
            <a:avLst/>
          </a:prstGeom>
          <a:solidFill>
            <a:srgbClr val="FD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169663"/>
            <a:ext cx="1014984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C50F1F"/>
                </a:solidFill>
                <a:latin typeface="Segoe UI Semibold"/>
              </a:rPr>
              <a:t>Stock-out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20240" y="4169663"/>
            <a:ext cx="1315821" cy="292608"/>
          </a:xfrm>
          <a:prstGeom prst="roundRect">
            <a:avLst>
              <a:gd name="adj" fmla="val 50000"/>
            </a:avLst>
          </a:prstGeom>
          <a:solidFill>
            <a:srgbClr val="FFF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47672" y="4169663"/>
            <a:ext cx="1260957" cy="292608"/>
          </a:xfrm>
          <a:prstGeom prst="rect">
            <a:avLst/>
          </a:prstGeom>
          <a:noFill/>
        </p:spPr>
        <p:txBody>
          <a:bodyPr wrap="none" anchor="ctr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9A5B00"/>
                </a:solidFill>
                <a:latin typeface="Segoe UI Semibold"/>
              </a:rPr>
              <a:t>43 complaints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81528" y="4480560"/>
            <a:ext cx="0" cy="338328"/>
          </a:xfrm>
          <a:prstGeom prst="line">
            <a:avLst/>
          </a:prstGeom>
          <a:ln w="15875">
            <a:solidFill>
              <a:srgbClr val="9A5B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1051560" y="4322673"/>
            <a:ext cx="5413248" cy="1188720"/>
          </a:xfrm>
          <a:custGeom>
            <a:avLst/>
            <a:gdLst/>
            <a:ahLst/>
            <a:cxnLst/>
            <a:rect l="l" t="t" r="r" b="b"/>
            <a:pathLst>
              <a:path w="5413248" h="1188720">
                <a:moveTo>
                  <a:pt x="0" y="505968"/>
                </a:moveTo>
                <a:lnTo>
                  <a:pt x="676656" y="664464"/>
                </a:lnTo>
                <a:lnTo>
                  <a:pt x="1353312" y="580339"/>
                </a:lnTo>
                <a:lnTo>
                  <a:pt x="2029967" y="587655"/>
                </a:lnTo>
                <a:lnTo>
                  <a:pt x="2706623" y="1188720"/>
                </a:lnTo>
                <a:lnTo>
                  <a:pt x="3383280" y="1059485"/>
                </a:lnTo>
                <a:lnTo>
                  <a:pt x="4059936" y="0"/>
                </a:lnTo>
                <a:lnTo>
                  <a:pt x="4736592" y="415747"/>
                </a:lnTo>
                <a:lnTo>
                  <a:pt x="5413248" y="559613"/>
                </a:lnTo>
              </a:path>
            </a:pathLst>
          </a:custGeom>
          <a:noFill/>
          <a:ln w="31750">
            <a:solidFill>
              <a:srgbClr val="2E7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92124" y="4769205"/>
            <a:ext cx="118872" cy="118872"/>
          </a:xfrm>
          <a:prstGeom prst="ellipse">
            <a:avLst/>
          </a:prstGeom>
          <a:solidFill>
            <a:srgbClr val="2E7DD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39" y="5760720"/>
            <a:ext cx="548640" cy="237744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8A8886"/>
                </a:solidFill>
                <a:latin typeface="Segoe UI"/>
              </a:rPr>
              <a:t>Jan</a:t>
            </a:r>
          </a:p>
        </p:txBody>
      </p:sp>
      <p:sp>
        <p:nvSpPr>
          <p:cNvPr id="46" name="Oval 45"/>
          <p:cNvSpPr/>
          <p:nvPr/>
        </p:nvSpPr>
        <p:spPr>
          <a:xfrm>
            <a:off x="1668780" y="4927701"/>
            <a:ext cx="118872" cy="118872"/>
          </a:xfrm>
          <a:prstGeom prst="ellipse">
            <a:avLst/>
          </a:prstGeom>
          <a:solidFill>
            <a:srgbClr val="2E7DD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53895" y="5760720"/>
            <a:ext cx="548640" cy="237744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8A8886"/>
                </a:solidFill>
                <a:latin typeface="Segoe UI"/>
              </a:rPr>
              <a:t>Feb</a:t>
            </a:r>
          </a:p>
        </p:txBody>
      </p:sp>
      <p:sp>
        <p:nvSpPr>
          <p:cNvPr id="48" name="Oval 47"/>
          <p:cNvSpPr/>
          <p:nvPr/>
        </p:nvSpPr>
        <p:spPr>
          <a:xfrm>
            <a:off x="2345436" y="4843576"/>
            <a:ext cx="118872" cy="118872"/>
          </a:xfrm>
          <a:prstGeom prst="ellipse">
            <a:avLst/>
          </a:prstGeom>
          <a:solidFill>
            <a:srgbClr val="2E7DD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30552" y="5760720"/>
            <a:ext cx="548640" cy="237744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8A8886"/>
                </a:solidFill>
                <a:latin typeface="Segoe UI"/>
              </a:rPr>
              <a:t>Mar</a:t>
            </a:r>
          </a:p>
        </p:txBody>
      </p:sp>
      <p:sp>
        <p:nvSpPr>
          <p:cNvPr id="50" name="Oval 49"/>
          <p:cNvSpPr/>
          <p:nvPr/>
        </p:nvSpPr>
        <p:spPr>
          <a:xfrm>
            <a:off x="3022091" y="4850892"/>
            <a:ext cx="118872" cy="118872"/>
          </a:xfrm>
          <a:prstGeom prst="ellipse">
            <a:avLst/>
          </a:prstGeom>
          <a:solidFill>
            <a:srgbClr val="2E7DD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07208" y="5760720"/>
            <a:ext cx="548640" cy="237744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8A8886"/>
                </a:solidFill>
                <a:latin typeface="Segoe UI"/>
              </a:rPr>
              <a:t>Apr</a:t>
            </a:r>
          </a:p>
        </p:txBody>
      </p:sp>
      <p:sp>
        <p:nvSpPr>
          <p:cNvPr id="52" name="Oval 51"/>
          <p:cNvSpPr/>
          <p:nvPr/>
        </p:nvSpPr>
        <p:spPr>
          <a:xfrm>
            <a:off x="3657599" y="5410809"/>
            <a:ext cx="201168" cy="201168"/>
          </a:xfrm>
          <a:prstGeom prst="ellipse">
            <a:avLst/>
          </a:prstGeom>
          <a:solidFill>
            <a:srgbClr val="C50F1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83863" y="5760720"/>
            <a:ext cx="548640" cy="237744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8A8886"/>
                </a:solidFill>
                <a:latin typeface="Segoe UI"/>
              </a:rPr>
              <a:t>May</a:t>
            </a:r>
          </a:p>
        </p:txBody>
      </p:sp>
      <p:sp>
        <p:nvSpPr>
          <p:cNvPr id="54" name="Oval 53"/>
          <p:cNvSpPr/>
          <p:nvPr/>
        </p:nvSpPr>
        <p:spPr>
          <a:xfrm>
            <a:off x="4375403" y="5322722"/>
            <a:ext cx="118872" cy="118872"/>
          </a:xfrm>
          <a:prstGeom prst="ellipse">
            <a:avLst/>
          </a:prstGeom>
          <a:solidFill>
            <a:srgbClr val="2E7DD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60520" y="5760720"/>
            <a:ext cx="548640" cy="237744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8A8886"/>
                </a:solidFill>
                <a:latin typeface="Segoe UI"/>
              </a:rPr>
              <a:t>Jun</a:t>
            </a:r>
          </a:p>
        </p:txBody>
      </p:sp>
      <p:sp>
        <p:nvSpPr>
          <p:cNvPr id="56" name="Oval 55"/>
          <p:cNvSpPr/>
          <p:nvPr/>
        </p:nvSpPr>
        <p:spPr>
          <a:xfrm>
            <a:off x="5010912" y="4222089"/>
            <a:ext cx="201168" cy="201168"/>
          </a:xfrm>
          <a:prstGeom prst="ellipse">
            <a:avLst/>
          </a:prstGeom>
          <a:solidFill>
            <a:srgbClr val="E8A31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37176" y="5760720"/>
            <a:ext cx="548640" cy="237744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8A8886"/>
                </a:solidFill>
                <a:latin typeface="Segoe UI"/>
              </a:rPr>
              <a:t>Jul</a:t>
            </a:r>
          </a:p>
        </p:txBody>
      </p:sp>
      <p:sp>
        <p:nvSpPr>
          <p:cNvPr id="58" name="Oval 57"/>
          <p:cNvSpPr/>
          <p:nvPr/>
        </p:nvSpPr>
        <p:spPr>
          <a:xfrm>
            <a:off x="5728716" y="4678984"/>
            <a:ext cx="118872" cy="118872"/>
          </a:xfrm>
          <a:prstGeom prst="ellipse">
            <a:avLst/>
          </a:prstGeom>
          <a:solidFill>
            <a:srgbClr val="2E7DD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3832" y="5760720"/>
            <a:ext cx="548640" cy="237744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8A8886"/>
                </a:solidFill>
                <a:latin typeface="Segoe UI"/>
              </a:rPr>
              <a:t>Aug</a:t>
            </a:r>
          </a:p>
        </p:txBody>
      </p:sp>
      <p:sp>
        <p:nvSpPr>
          <p:cNvPr id="60" name="Oval 59"/>
          <p:cNvSpPr/>
          <p:nvPr/>
        </p:nvSpPr>
        <p:spPr>
          <a:xfrm>
            <a:off x="6405372" y="4822850"/>
            <a:ext cx="118872" cy="118872"/>
          </a:xfrm>
          <a:prstGeom prst="ellipse">
            <a:avLst/>
          </a:prstGeom>
          <a:solidFill>
            <a:srgbClr val="2E7DD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90488" y="5760720"/>
            <a:ext cx="548640" cy="237744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8A8886"/>
                </a:solidFill>
                <a:latin typeface="Segoe UI"/>
              </a:rPr>
              <a:t>Sep</a:t>
            </a:r>
          </a:p>
        </p:txBody>
      </p:sp>
      <p:sp>
        <p:nvSpPr>
          <p:cNvPr id="62" name="Oval 61"/>
          <p:cNvSpPr/>
          <p:nvPr/>
        </p:nvSpPr>
        <p:spPr>
          <a:xfrm>
            <a:off x="7114032" y="4160520"/>
            <a:ext cx="146304" cy="146304"/>
          </a:xfrm>
          <a:prstGeom prst="ellipse">
            <a:avLst/>
          </a:prstGeom>
          <a:solidFill>
            <a:srgbClr val="9A5B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60920" y="4114800"/>
            <a:ext cx="228600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42424"/>
                </a:solidFill>
                <a:latin typeface="Segoe UI Semibold"/>
              </a:rPr>
              <a:t>April</a:t>
            </a:r>
            <a:r>
              <a:rPr sz="1100" b="0">
                <a:solidFill>
                  <a:srgbClr val="242424"/>
                </a:solidFill>
                <a:latin typeface="Segoe UI"/>
              </a:rPr>
              <a:t> · 43 packaging complaints on batch ZT100-2603B</a:t>
            </a:r>
          </a:p>
        </p:txBody>
      </p:sp>
      <p:sp>
        <p:nvSpPr>
          <p:cNvPr id="64" name="Oval 63"/>
          <p:cNvSpPr/>
          <p:nvPr/>
        </p:nvSpPr>
        <p:spPr>
          <a:xfrm>
            <a:off x="7114032" y="4636007"/>
            <a:ext cx="146304" cy="146304"/>
          </a:xfrm>
          <a:prstGeom prst="ellipse">
            <a:avLst/>
          </a:prstGeom>
          <a:solidFill>
            <a:srgbClr val="C50F1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60920" y="4590288"/>
            <a:ext cx="228600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42424"/>
                </a:solidFill>
                <a:latin typeface="Segoe UI Semibold"/>
              </a:rPr>
              <a:t>May–June</a:t>
            </a:r>
            <a:r>
              <a:rPr sz="1100" b="0">
                <a:solidFill>
                  <a:srgbClr val="242424"/>
                </a:solidFill>
                <a:latin typeface="Segoe UI"/>
              </a:rPr>
              <a:t> · stock-out. Sales fall from EUR 660 k to 167 k</a:t>
            </a:r>
          </a:p>
        </p:txBody>
      </p:sp>
      <p:sp>
        <p:nvSpPr>
          <p:cNvPr id="66" name="Oval 65"/>
          <p:cNvSpPr/>
          <p:nvPr/>
        </p:nvSpPr>
        <p:spPr>
          <a:xfrm>
            <a:off x="7114032" y="5111496"/>
            <a:ext cx="146304" cy="146304"/>
          </a:xfrm>
          <a:prstGeom prst="ellipse">
            <a:avLst/>
          </a:prstGeom>
          <a:solidFill>
            <a:srgbClr val="E8A31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60920" y="5065776"/>
            <a:ext cx="228600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42424"/>
                </a:solidFill>
                <a:latin typeface="Segoe UI Semibold"/>
              </a:rPr>
              <a:t>July</a:t>
            </a:r>
            <a:r>
              <a:rPr sz="1100" b="0">
                <a:solidFill>
                  <a:srgbClr val="242424"/>
                </a:solidFill>
                <a:latin typeface="Segoe UI"/>
              </a:rPr>
              <a:t> · backorders ship: EUR 1,142 k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086600" y="5532120"/>
            <a:ext cx="2560320" cy="0"/>
          </a:xfrm>
          <a:prstGeom prst="line">
            <a:avLst/>
          </a:prstGeom>
          <a:ln w="12700">
            <a:solidFill>
              <a:srgbClr val="D6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7086600" y="5596128"/>
            <a:ext cx="25603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E7DD7"/>
                </a:solidFill>
                <a:latin typeface="Segoe UI Semibold"/>
              </a:rPr>
              <a:t>Lab 1 finds it: anomaly detection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E7DD7"/>
                </a:solidFill>
                <a:latin typeface="Segoe UI Semibold"/>
              </a:rPr>
              <a:t>Lab 2 explains it: the data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diagrams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